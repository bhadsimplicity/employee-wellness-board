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8" r:id="rId4"/>
    <p:sldId id="271" r:id="rId5"/>
    <p:sldId id="260" r:id="rId6"/>
    <p:sldId id="261" r:id="rId7"/>
    <p:sldId id="274" r:id="rId8"/>
    <p:sldId id="262" r:id="rId9"/>
    <p:sldId id="267" r:id="rId10"/>
    <p:sldId id="264" r:id="rId11"/>
    <p:sldId id="265" r:id="rId12"/>
    <p:sldId id="273" r:id="rId13"/>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E28A5830-FF68-4D29-BE27-3F5A142FD1D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A3B2375-0572-49F7-B5CF-B7A49CC2EAB5}">
      <dgm:prSet/>
      <dgm:spPr/>
      <dgm:t>
        <a:bodyPr/>
        <a:lstStyle/>
        <a:p>
          <a:r>
            <a:rPr lang="en-US" dirty="0">
              <a:latin typeface="Candara" panose="020E0502030303020204" pitchFamily="34" charset="0"/>
            </a:rPr>
            <a:t>Week 1 – Dataset collection and understanding. </a:t>
          </a:r>
        </a:p>
      </dgm:t>
    </dgm:pt>
    <dgm:pt modelId="{C431F8A5-9D96-4130-9594-373FEF56EC32}" type="parTrans" cxnId="{20003F22-4F26-42D0-A4FB-47BCF48DFA3B}">
      <dgm:prSet/>
      <dgm:spPr/>
      <dgm:t>
        <a:bodyPr/>
        <a:lstStyle/>
        <a:p>
          <a:endParaRPr lang="en-US"/>
        </a:p>
      </dgm:t>
    </dgm:pt>
    <dgm:pt modelId="{EE5FFE7B-404B-4F4C-B7A4-BB5FB62F5F1F}" type="sibTrans" cxnId="{20003F22-4F26-42D0-A4FB-47BCF48DFA3B}">
      <dgm:prSet/>
      <dgm:spPr/>
      <dgm:t>
        <a:bodyPr/>
        <a:lstStyle/>
        <a:p>
          <a:endParaRPr lang="en-US"/>
        </a:p>
      </dgm:t>
    </dgm:pt>
    <dgm:pt modelId="{1D3EB998-AE82-4362-A952-A0F947600547}">
      <dgm:prSet/>
      <dgm:spPr/>
      <dgm:t>
        <a:bodyPr/>
        <a:lstStyle/>
        <a:p>
          <a:r>
            <a:rPr lang="en-US" dirty="0">
              <a:latin typeface="Candara" panose="020E0502030303020204" pitchFamily="34" charset="0"/>
            </a:rPr>
            <a:t>Week 2 – Data cleaning and initial exploration in Excel. </a:t>
          </a:r>
        </a:p>
      </dgm:t>
    </dgm:pt>
    <dgm:pt modelId="{AD96A5C5-B5DE-444E-A105-3DE10E6DBFDA}" type="parTrans" cxnId="{DA8DA277-5C3D-4367-93AB-B2EA076BB085}">
      <dgm:prSet/>
      <dgm:spPr/>
      <dgm:t>
        <a:bodyPr/>
        <a:lstStyle/>
        <a:p>
          <a:endParaRPr lang="en-US"/>
        </a:p>
      </dgm:t>
    </dgm:pt>
    <dgm:pt modelId="{30CEDC28-1510-4156-9CB2-4171A6F4C64A}" type="sibTrans" cxnId="{DA8DA277-5C3D-4367-93AB-B2EA076BB085}">
      <dgm:prSet/>
      <dgm:spPr/>
      <dgm:t>
        <a:bodyPr/>
        <a:lstStyle/>
        <a:p>
          <a:endParaRPr lang="en-US"/>
        </a:p>
      </dgm:t>
    </dgm:pt>
    <dgm:pt modelId="{D0C404E3-E8DF-4744-909A-4297A7939D32}">
      <dgm:prSet/>
      <dgm:spPr/>
      <dgm:t>
        <a:bodyPr/>
        <a:lstStyle/>
        <a:p>
          <a:r>
            <a:rPr lang="en-US" dirty="0">
              <a:latin typeface="Candara" panose="020E0502030303020204" pitchFamily="34" charset="0"/>
            </a:rPr>
            <a:t>Week 3 – Visualization and dashboard creation using Power BI. </a:t>
          </a:r>
        </a:p>
      </dgm:t>
    </dgm:pt>
    <dgm:pt modelId="{0E82B88F-BA1A-4750-A884-C692D876DEFC}" type="parTrans" cxnId="{F8E2BB3C-401A-4A18-AEEA-03EFB3287402}">
      <dgm:prSet/>
      <dgm:spPr/>
      <dgm:t>
        <a:bodyPr/>
        <a:lstStyle/>
        <a:p>
          <a:endParaRPr lang="en-US"/>
        </a:p>
      </dgm:t>
    </dgm:pt>
    <dgm:pt modelId="{7956CA1B-02C2-42A0-BDA1-6B9EF662DDA8}" type="sibTrans" cxnId="{F8E2BB3C-401A-4A18-AEEA-03EFB3287402}">
      <dgm:prSet/>
      <dgm:spPr/>
      <dgm:t>
        <a:bodyPr/>
        <a:lstStyle/>
        <a:p>
          <a:endParaRPr lang="en-US"/>
        </a:p>
      </dgm:t>
    </dgm:pt>
    <dgm:pt modelId="{7E544755-3C39-4573-9186-59A82674D9F1}">
      <dgm:prSet/>
      <dgm:spPr/>
      <dgm:t>
        <a:bodyPr/>
        <a:lstStyle/>
        <a:p>
          <a:r>
            <a:rPr lang="en-US" dirty="0">
              <a:latin typeface="Candara" panose="020E0502030303020204" pitchFamily="34" charset="0"/>
            </a:rPr>
            <a:t>Week 4 – Interpretation of findings, report writing, and presentation preparation.</a:t>
          </a:r>
        </a:p>
      </dgm:t>
    </dgm:pt>
    <dgm:pt modelId="{93D86650-B6D6-4CC3-BADD-4AC85B3B3FE0}" type="parTrans" cxnId="{3D150465-D070-4DB3-B951-11F5B0F49770}">
      <dgm:prSet/>
      <dgm:spPr/>
      <dgm:t>
        <a:bodyPr/>
        <a:lstStyle/>
        <a:p>
          <a:endParaRPr lang="en-US"/>
        </a:p>
      </dgm:t>
    </dgm:pt>
    <dgm:pt modelId="{D159923D-F8DA-451B-BBCE-4108B1AA9798}" type="sibTrans" cxnId="{3D150465-D070-4DB3-B951-11F5B0F49770}">
      <dgm:prSet/>
      <dgm:spPr/>
      <dgm:t>
        <a:bodyPr/>
        <a:lstStyle/>
        <a:p>
          <a:endParaRPr lang="en-US"/>
        </a:p>
      </dgm:t>
    </dgm:pt>
    <dgm:pt modelId="{96F0E012-FFD8-4637-8EB2-3A2670A14387}" type="pres">
      <dgm:prSet presAssocID="{E28A5830-FF68-4D29-BE27-3F5A142FD1D2}" presName="root" presStyleCnt="0">
        <dgm:presLayoutVars>
          <dgm:dir/>
          <dgm:resizeHandles val="exact"/>
        </dgm:presLayoutVars>
      </dgm:prSet>
      <dgm:spPr/>
    </dgm:pt>
    <dgm:pt modelId="{4152BA34-8D5D-4DFE-A5D8-D3655CDCBC77}" type="pres">
      <dgm:prSet presAssocID="{4A3B2375-0572-49F7-B5CF-B7A49CC2EAB5}" presName="compNode" presStyleCnt="0"/>
      <dgm:spPr/>
    </dgm:pt>
    <dgm:pt modelId="{88FBDC1E-35FF-44EA-8E6A-0958959A64DC}" type="pres">
      <dgm:prSet presAssocID="{4A3B2375-0572-49F7-B5CF-B7A49CC2EAB5}" presName="bgRect" presStyleLbl="bgShp" presStyleIdx="0" presStyleCnt="4"/>
      <dgm:spPr/>
    </dgm:pt>
    <dgm:pt modelId="{25FE0E12-3958-4251-AA48-D6F6A84A4995}" type="pres">
      <dgm:prSet presAssocID="{4A3B2375-0572-49F7-B5CF-B7A49CC2EAB5}" presName="iconRect" presStyleLbl="node1" presStyleIdx="0" presStyleCnt="4"/>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5D39A143-C584-416D-81AA-E2027F6D88DF}" type="pres">
      <dgm:prSet presAssocID="{4A3B2375-0572-49F7-B5CF-B7A49CC2EAB5}" presName="spaceRect" presStyleCnt="0"/>
      <dgm:spPr/>
    </dgm:pt>
    <dgm:pt modelId="{C59B302C-1BD4-4E59-85A5-85CA25B0658B}" type="pres">
      <dgm:prSet presAssocID="{4A3B2375-0572-49F7-B5CF-B7A49CC2EAB5}" presName="parTx" presStyleLbl="revTx" presStyleIdx="0" presStyleCnt="4">
        <dgm:presLayoutVars>
          <dgm:chMax val="0"/>
          <dgm:chPref val="0"/>
        </dgm:presLayoutVars>
      </dgm:prSet>
      <dgm:spPr/>
    </dgm:pt>
    <dgm:pt modelId="{E2CA7AEA-9E93-4CC9-BA3B-1FBCA9839C39}" type="pres">
      <dgm:prSet presAssocID="{EE5FFE7B-404B-4F4C-B7A4-BB5FB62F5F1F}" presName="sibTrans" presStyleCnt="0"/>
      <dgm:spPr/>
    </dgm:pt>
    <dgm:pt modelId="{9F34D574-EF9F-41B6-8E1D-912A5124C9F0}" type="pres">
      <dgm:prSet presAssocID="{1D3EB998-AE82-4362-A952-A0F947600547}" presName="compNode" presStyleCnt="0"/>
      <dgm:spPr/>
    </dgm:pt>
    <dgm:pt modelId="{7817EC93-A017-4265-883E-740A635E6A8E}" type="pres">
      <dgm:prSet presAssocID="{1D3EB998-AE82-4362-A952-A0F947600547}" presName="bgRect" presStyleLbl="bgShp" presStyleIdx="1" presStyleCnt="4"/>
      <dgm:spPr/>
    </dgm:pt>
    <dgm:pt modelId="{3F9E9A49-AA22-4B22-8298-5E6E28A3EAB0}" type="pres">
      <dgm:prSet presAssocID="{1D3EB998-AE82-4362-A952-A0F94760054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p and bucket"/>
        </a:ext>
      </dgm:extLst>
    </dgm:pt>
    <dgm:pt modelId="{E39401E4-6B4D-4494-8904-576297B16745}" type="pres">
      <dgm:prSet presAssocID="{1D3EB998-AE82-4362-A952-A0F947600547}" presName="spaceRect" presStyleCnt="0"/>
      <dgm:spPr/>
    </dgm:pt>
    <dgm:pt modelId="{3893AAAB-B78E-454D-8212-1C5086134CD6}" type="pres">
      <dgm:prSet presAssocID="{1D3EB998-AE82-4362-A952-A0F947600547}" presName="parTx" presStyleLbl="revTx" presStyleIdx="1" presStyleCnt="4">
        <dgm:presLayoutVars>
          <dgm:chMax val="0"/>
          <dgm:chPref val="0"/>
        </dgm:presLayoutVars>
      </dgm:prSet>
      <dgm:spPr/>
    </dgm:pt>
    <dgm:pt modelId="{31238C4F-2F2E-42EC-A25B-81FF4A6AB0F9}" type="pres">
      <dgm:prSet presAssocID="{30CEDC28-1510-4156-9CB2-4171A6F4C64A}" presName="sibTrans" presStyleCnt="0"/>
      <dgm:spPr/>
    </dgm:pt>
    <dgm:pt modelId="{0802FA1C-2B7F-450E-B224-700975B63EA4}" type="pres">
      <dgm:prSet presAssocID="{D0C404E3-E8DF-4744-909A-4297A7939D32}" presName="compNode" presStyleCnt="0"/>
      <dgm:spPr/>
    </dgm:pt>
    <dgm:pt modelId="{6B9C1D04-8A8B-463A-B166-4BAF2435BD7B}" type="pres">
      <dgm:prSet presAssocID="{D0C404E3-E8DF-4744-909A-4297A7939D32}" presName="bgRect" presStyleLbl="bgShp" presStyleIdx="2" presStyleCnt="4"/>
      <dgm:spPr/>
    </dgm:pt>
    <dgm:pt modelId="{7338D594-43BC-42AB-BB31-AD6FC1D8B9C3}" type="pres">
      <dgm:prSet presAssocID="{D0C404E3-E8DF-4744-909A-4297A7939D3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0D40AA06-5961-4264-BB93-154D1AB929EE}" type="pres">
      <dgm:prSet presAssocID="{D0C404E3-E8DF-4744-909A-4297A7939D32}" presName="spaceRect" presStyleCnt="0"/>
      <dgm:spPr/>
    </dgm:pt>
    <dgm:pt modelId="{65B1FC9C-E841-4CCD-AB1B-B45BFA8D7C14}" type="pres">
      <dgm:prSet presAssocID="{D0C404E3-E8DF-4744-909A-4297A7939D32}" presName="parTx" presStyleLbl="revTx" presStyleIdx="2" presStyleCnt="4">
        <dgm:presLayoutVars>
          <dgm:chMax val="0"/>
          <dgm:chPref val="0"/>
        </dgm:presLayoutVars>
      </dgm:prSet>
      <dgm:spPr/>
    </dgm:pt>
    <dgm:pt modelId="{425D4129-2420-4290-8083-BC8E3C737DBF}" type="pres">
      <dgm:prSet presAssocID="{7956CA1B-02C2-42A0-BDA1-6B9EF662DDA8}" presName="sibTrans" presStyleCnt="0"/>
      <dgm:spPr/>
    </dgm:pt>
    <dgm:pt modelId="{1D71B746-5F67-42A2-AC60-021C39F28BF4}" type="pres">
      <dgm:prSet presAssocID="{7E544755-3C39-4573-9186-59A82674D9F1}" presName="compNode" presStyleCnt="0"/>
      <dgm:spPr/>
    </dgm:pt>
    <dgm:pt modelId="{59DB0D01-2898-4E59-B58C-62CB185A12FC}" type="pres">
      <dgm:prSet presAssocID="{7E544755-3C39-4573-9186-59A82674D9F1}" presName="bgRect" presStyleLbl="bgShp" presStyleIdx="3" presStyleCnt="4"/>
      <dgm:spPr/>
    </dgm:pt>
    <dgm:pt modelId="{99491FB2-7625-4920-87C4-531EC3540B2B}" type="pres">
      <dgm:prSet presAssocID="{7E544755-3C39-4573-9186-59A82674D9F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6025D0A1-7045-43ED-9607-3BC9CBC0C084}" type="pres">
      <dgm:prSet presAssocID="{7E544755-3C39-4573-9186-59A82674D9F1}" presName="spaceRect" presStyleCnt="0"/>
      <dgm:spPr/>
    </dgm:pt>
    <dgm:pt modelId="{528621F5-9796-40A7-A4BC-9AA92C6F1B72}" type="pres">
      <dgm:prSet presAssocID="{7E544755-3C39-4573-9186-59A82674D9F1}" presName="parTx" presStyleLbl="revTx" presStyleIdx="3" presStyleCnt="4">
        <dgm:presLayoutVars>
          <dgm:chMax val="0"/>
          <dgm:chPref val="0"/>
        </dgm:presLayoutVars>
      </dgm:prSet>
      <dgm:spPr/>
    </dgm:pt>
  </dgm:ptLst>
  <dgm:cxnLst>
    <dgm:cxn modelId="{1F79B207-8AC3-452B-B332-0129FC066AD6}" type="presOf" srcId="{4A3B2375-0572-49F7-B5CF-B7A49CC2EAB5}" destId="{C59B302C-1BD4-4E59-85A5-85CA25B0658B}" srcOrd="0" destOrd="0" presId="urn:microsoft.com/office/officeart/2018/2/layout/IconVerticalSolidList"/>
    <dgm:cxn modelId="{88A21C0E-672A-4FCF-93F3-F25B8E5B7D82}" type="presOf" srcId="{E28A5830-FF68-4D29-BE27-3F5A142FD1D2}" destId="{96F0E012-FFD8-4637-8EB2-3A2670A14387}" srcOrd="0" destOrd="0" presId="urn:microsoft.com/office/officeart/2018/2/layout/IconVerticalSolidList"/>
    <dgm:cxn modelId="{20003F22-4F26-42D0-A4FB-47BCF48DFA3B}" srcId="{E28A5830-FF68-4D29-BE27-3F5A142FD1D2}" destId="{4A3B2375-0572-49F7-B5CF-B7A49CC2EAB5}" srcOrd="0" destOrd="0" parTransId="{C431F8A5-9D96-4130-9594-373FEF56EC32}" sibTransId="{EE5FFE7B-404B-4F4C-B7A4-BB5FB62F5F1F}"/>
    <dgm:cxn modelId="{F8E2BB3C-401A-4A18-AEEA-03EFB3287402}" srcId="{E28A5830-FF68-4D29-BE27-3F5A142FD1D2}" destId="{D0C404E3-E8DF-4744-909A-4297A7939D32}" srcOrd="2" destOrd="0" parTransId="{0E82B88F-BA1A-4750-A884-C692D876DEFC}" sibTransId="{7956CA1B-02C2-42A0-BDA1-6B9EF662DDA8}"/>
    <dgm:cxn modelId="{60381B63-B40D-486E-8A04-9757389FFD95}" type="presOf" srcId="{7E544755-3C39-4573-9186-59A82674D9F1}" destId="{528621F5-9796-40A7-A4BC-9AA92C6F1B72}" srcOrd="0" destOrd="0" presId="urn:microsoft.com/office/officeart/2018/2/layout/IconVerticalSolidList"/>
    <dgm:cxn modelId="{3D150465-D070-4DB3-B951-11F5B0F49770}" srcId="{E28A5830-FF68-4D29-BE27-3F5A142FD1D2}" destId="{7E544755-3C39-4573-9186-59A82674D9F1}" srcOrd="3" destOrd="0" parTransId="{93D86650-B6D6-4CC3-BADD-4AC85B3B3FE0}" sibTransId="{D159923D-F8DA-451B-BBCE-4108B1AA9798}"/>
    <dgm:cxn modelId="{DA8DA277-5C3D-4367-93AB-B2EA076BB085}" srcId="{E28A5830-FF68-4D29-BE27-3F5A142FD1D2}" destId="{1D3EB998-AE82-4362-A952-A0F947600547}" srcOrd="1" destOrd="0" parTransId="{AD96A5C5-B5DE-444E-A105-3DE10E6DBFDA}" sibTransId="{30CEDC28-1510-4156-9CB2-4171A6F4C64A}"/>
    <dgm:cxn modelId="{D2E9317E-CAF1-47A6-8444-22FB2EE4C415}" type="presOf" srcId="{D0C404E3-E8DF-4744-909A-4297A7939D32}" destId="{65B1FC9C-E841-4CCD-AB1B-B45BFA8D7C14}" srcOrd="0" destOrd="0" presId="urn:microsoft.com/office/officeart/2018/2/layout/IconVerticalSolidList"/>
    <dgm:cxn modelId="{DDD369F5-0085-4EE3-AC1B-F104F3DD8929}" type="presOf" srcId="{1D3EB998-AE82-4362-A952-A0F947600547}" destId="{3893AAAB-B78E-454D-8212-1C5086134CD6}" srcOrd="0" destOrd="0" presId="urn:microsoft.com/office/officeart/2018/2/layout/IconVerticalSolidList"/>
    <dgm:cxn modelId="{D8B85B42-1E2D-44A1-80E1-AAE804478B7C}" type="presParOf" srcId="{96F0E012-FFD8-4637-8EB2-3A2670A14387}" destId="{4152BA34-8D5D-4DFE-A5D8-D3655CDCBC77}" srcOrd="0" destOrd="0" presId="urn:microsoft.com/office/officeart/2018/2/layout/IconVerticalSolidList"/>
    <dgm:cxn modelId="{82CCBFF8-BC3E-461F-959F-404C5E6B1E7A}" type="presParOf" srcId="{4152BA34-8D5D-4DFE-A5D8-D3655CDCBC77}" destId="{88FBDC1E-35FF-44EA-8E6A-0958959A64DC}" srcOrd="0" destOrd="0" presId="urn:microsoft.com/office/officeart/2018/2/layout/IconVerticalSolidList"/>
    <dgm:cxn modelId="{16CB8CB6-BBDC-46C6-A08F-D431E115D7C9}" type="presParOf" srcId="{4152BA34-8D5D-4DFE-A5D8-D3655CDCBC77}" destId="{25FE0E12-3958-4251-AA48-D6F6A84A4995}" srcOrd="1" destOrd="0" presId="urn:microsoft.com/office/officeart/2018/2/layout/IconVerticalSolidList"/>
    <dgm:cxn modelId="{F7E2D957-CB69-43B0-A786-05169CF94B88}" type="presParOf" srcId="{4152BA34-8D5D-4DFE-A5D8-D3655CDCBC77}" destId="{5D39A143-C584-416D-81AA-E2027F6D88DF}" srcOrd="2" destOrd="0" presId="urn:microsoft.com/office/officeart/2018/2/layout/IconVerticalSolidList"/>
    <dgm:cxn modelId="{0D51D4A8-8679-46F3-9FAA-AE3F68488F79}" type="presParOf" srcId="{4152BA34-8D5D-4DFE-A5D8-D3655CDCBC77}" destId="{C59B302C-1BD4-4E59-85A5-85CA25B0658B}" srcOrd="3" destOrd="0" presId="urn:microsoft.com/office/officeart/2018/2/layout/IconVerticalSolidList"/>
    <dgm:cxn modelId="{825AC837-C576-4583-A835-55BE8DDCE322}" type="presParOf" srcId="{96F0E012-FFD8-4637-8EB2-3A2670A14387}" destId="{E2CA7AEA-9E93-4CC9-BA3B-1FBCA9839C39}" srcOrd="1" destOrd="0" presId="urn:microsoft.com/office/officeart/2018/2/layout/IconVerticalSolidList"/>
    <dgm:cxn modelId="{A72A72F5-ACAD-4180-B62C-172CBFDD70BF}" type="presParOf" srcId="{96F0E012-FFD8-4637-8EB2-3A2670A14387}" destId="{9F34D574-EF9F-41B6-8E1D-912A5124C9F0}" srcOrd="2" destOrd="0" presId="urn:microsoft.com/office/officeart/2018/2/layout/IconVerticalSolidList"/>
    <dgm:cxn modelId="{7C5234D1-022F-4FFA-A926-B79C45D451F7}" type="presParOf" srcId="{9F34D574-EF9F-41B6-8E1D-912A5124C9F0}" destId="{7817EC93-A017-4265-883E-740A635E6A8E}" srcOrd="0" destOrd="0" presId="urn:microsoft.com/office/officeart/2018/2/layout/IconVerticalSolidList"/>
    <dgm:cxn modelId="{1834C92B-3516-42A9-B753-669F2E8B2B69}" type="presParOf" srcId="{9F34D574-EF9F-41B6-8E1D-912A5124C9F0}" destId="{3F9E9A49-AA22-4B22-8298-5E6E28A3EAB0}" srcOrd="1" destOrd="0" presId="urn:microsoft.com/office/officeart/2018/2/layout/IconVerticalSolidList"/>
    <dgm:cxn modelId="{254A2756-C2BA-441B-ABF1-D4CF1167CC30}" type="presParOf" srcId="{9F34D574-EF9F-41B6-8E1D-912A5124C9F0}" destId="{E39401E4-6B4D-4494-8904-576297B16745}" srcOrd="2" destOrd="0" presId="urn:microsoft.com/office/officeart/2018/2/layout/IconVerticalSolidList"/>
    <dgm:cxn modelId="{D6926756-FC1B-4EBA-89E5-1A9FD902FC3E}" type="presParOf" srcId="{9F34D574-EF9F-41B6-8E1D-912A5124C9F0}" destId="{3893AAAB-B78E-454D-8212-1C5086134CD6}" srcOrd="3" destOrd="0" presId="urn:microsoft.com/office/officeart/2018/2/layout/IconVerticalSolidList"/>
    <dgm:cxn modelId="{C5BBF311-DF30-4752-BD54-772E83080ADF}" type="presParOf" srcId="{96F0E012-FFD8-4637-8EB2-3A2670A14387}" destId="{31238C4F-2F2E-42EC-A25B-81FF4A6AB0F9}" srcOrd="3" destOrd="0" presId="urn:microsoft.com/office/officeart/2018/2/layout/IconVerticalSolidList"/>
    <dgm:cxn modelId="{AA44E7ED-E4EF-4318-B11E-BA30C6D70323}" type="presParOf" srcId="{96F0E012-FFD8-4637-8EB2-3A2670A14387}" destId="{0802FA1C-2B7F-450E-B224-700975B63EA4}" srcOrd="4" destOrd="0" presId="urn:microsoft.com/office/officeart/2018/2/layout/IconVerticalSolidList"/>
    <dgm:cxn modelId="{C99DBEAD-02E0-409B-BDD0-78B2DA108E6B}" type="presParOf" srcId="{0802FA1C-2B7F-450E-B224-700975B63EA4}" destId="{6B9C1D04-8A8B-463A-B166-4BAF2435BD7B}" srcOrd="0" destOrd="0" presId="urn:microsoft.com/office/officeart/2018/2/layout/IconVerticalSolidList"/>
    <dgm:cxn modelId="{13891115-9272-4667-A1BC-12541A5B44FA}" type="presParOf" srcId="{0802FA1C-2B7F-450E-B224-700975B63EA4}" destId="{7338D594-43BC-42AB-BB31-AD6FC1D8B9C3}" srcOrd="1" destOrd="0" presId="urn:microsoft.com/office/officeart/2018/2/layout/IconVerticalSolidList"/>
    <dgm:cxn modelId="{14361FFB-DFF2-4682-9663-18F8F2CD5D28}" type="presParOf" srcId="{0802FA1C-2B7F-450E-B224-700975B63EA4}" destId="{0D40AA06-5961-4264-BB93-154D1AB929EE}" srcOrd="2" destOrd="0" presId="urn:microsoft.com/office/officeart/2018/2/layout/IconVerticalSolidList"/>
    <dgm:cxn modelId="{0359BE7B-7F10-4580-A067-83C112ECCA5B}" type="presParOf" srcId="{0802FA1C-2B7F-450E-B224-700975B63EA4}" destId="{65B1FC9C-E841-4CCD-AB1B-B45BFA8D7C14}" srcOrd="3" destOrd="0" presId="urn:microsoft.com/office/officeart/2018/2/layout/IconVerticalSolidList"/>
    <dgm:cxn modelId="{68B06C99-A8F4-43D4-9BBC-05F127C9E64F}" type="presParOf" srcId="{96F0E012-FFD8-4637-8EB2-3A2670A14387}" destId="{425D4129-2420-4290-8083-BC8E3C737DBF}" srcOrd="5" destOrd="0" presId="urn:microsoft.com/office/officeart/2018/2/layout/IconVerticalSolidList"/>
    <dgm:cxn modelId="{3AE04E0D-6A1C-4E97-87E9-05146D5CC097}" type="presParOf" srcId="{96F0E012-FFD8-4637-8EB2-3A2670A14387}" destId="{1D71B746-5F67-42A2-AC60-021C39F28BF4}" srcOrd="6" destOrd="0" presId="urn:microsoft.com/office/officeart/2018/2/layout/IconVerticalSolidList"/>
    <dgm:cxn modelId="{65BE340A-AAB8-4430-8F1F-F92E54906922}" type="presParOf" srcId="{1D71B746-5F67-42A2-AC60-021C39F28BF4}" destId="{59DB0D01-2898-4E59-B58C-62CB185A12FC}" srcOrd="0" destOrd="0" presId="urn:microsoft.com/office/officeart/2018/2/layout/IconVerticalSolidList"/>
    <dgm:cxn modelId="{D1BBAD99-B2C7-444B-83C9-F6B4DB508ABC}" type="presParOf" srcId="{1D71B746-5F67-42A2-AC60-021C39F28BF4}" destId="{99491FB2-7625-4920-87C4-531EC3540B2B}" srcOrd="1" destOrd="0" presId="urn:microsoft.com/office/officeart/2018/2/layout/IconVerticalSolidList"/>
    <dgm:cxn modelId="{EED6FCFB-FF3A-472A-91D8-FA5B17668931}" type="presParOf" srcId="{1D71B746-5F67-42A2-AC60-021C39F28BF4}" destId="{6025D0A1-7045-43ED-9607-3BC9CBC0C084}" srcOrd="2" destOrd="0" presId="urn:microsoft.com/office/officeart/2018/2/layout/IconVerticalSolidList"/>
    <dgm:cxn modelId="{76DC9159-52B5-4D27-ABDF-3E0D515FFB23}" type="presParOf" srcId="{1D71B746-5F67-42A2-AC60-021C39F28BF4}" destId="{528621F5-9796-40A7-A4BC-9AA92C6F1B7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FBDC1E-35FF-44EA-8E6A-0958959A64DC}">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FE0E12-3958-4251-AA48-D6F6A84A4995}">
      <dsp:nvSpPr>
        <dsp:cNvPr id="0" name=""/>
        <dsp:cNvSpPr/>
      </dsp:nvSpPr>
      <dsp:spPr>
        <a:xfrm>
          <a:off x="350852" y="263253"/>
          <a:ext cx="637913" cy="63791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B302C-1BD4-4E59-85A5-85CA25B0658B}">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andara" panose="020E0502030303020204" pitchFamily="34" charset="0"/>
            </a:rPr>
            <a:t>Week 1 – Dataset collection and understanding. </a:t>
          </a:r>
        </a:p>
      </dsp:txBody>
      <dsp:txXfrm>
        <a:off x="1339618" y="2288"/>
        <a:ext cx="5024605" cy="1159843"/>
      </dsp:txXfrm>
    </dsp:sp>
    <dsp:sp modelId="{7817EC93-A017-4265-883E-740A635E6A8E}">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9E9A49-AA22-4B22-8298-5E6E28A3EAB0}">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3AAAB-B78E-454D-8212-1C5086134CD6}">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andara" panose="020E0502030303020204" pitchFamily="34" charset="0"/>
            </a:rPr>
            <a:t>Week 2 – Data cleaning and initial exploration in Excel. </a:t>
          </a:r>
        </a:p>
      </dsp:txBody>
      <dsp:txXfrm>
        <a:off x="1339618" y="1452092"/>
        <a:ext cx="5024605" cy="1159843"/>
      </dsp:txXfrm>
    </dsp:sp>
    <dsp:sp modelId="{6B9C1D04-8A8B-463A-B166-4BAF2435BD7B}">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38D594-43BC-42AB-BB31-AD6FC1D8B9C3}">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B1FC9C-E841-4CCD-AB1B-B45BFA8D7C14}">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andara" panose="020E0502030303020204" pitchFamily="34" charset="0"/>
            </a:rPr>
            <a:t>Week 3 – Visualization and dashboard creation using Power BI. </a:t>
          </a:r>
        </a:p>
      </dsp:txBody>
      <dsp:txXfrm>
        <a:off x="1339618" y="2901896"/>
        <a:ext cx="5024605" cy="1159843"/>
      </dsp:txXfrm>
    </dsp:sp>
    <dsp:sp modelId="{59DB0D01-2898-4E59-B58C-62CB185A12FC}">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491FB2-7625-4920-87C4-531EC3540B2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8621F5-9796-40A7-A4BC-9AA92C6F1B72}">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andara" panose="020E0502030303020204" pitchFamily="34" charset="0"/>
            </a:rPr>
            <a:t>Week 4 – Interpretation of findings, report writing, and presentation preparation.</a:t>
          </a:r>
        </a:p>
      </dsp:txBody>
      <dsp:txXfrm>
        <a:off x="1339618" y="4351700"/>
        <a:ext cx="5024605" cy="1159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A7A58-3D09-DD9A-23F0-20D3B66B9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2F94D6-11DE-670C-0FBA-8AD4F310A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2E93095-C461-2A7F-C4FA-86F4F2AE6EBA}"/>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2B9FF98C-147E-1BB0-9FAC-F616484D85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338602-B383-89E4-FC09-6F7E1ABB37A2}"/>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2495124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E3AED-23DE-6259-2C3B-752C5D8EADB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B7F3917-125C-C834-F81F-1B706CF64A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22ABD7-E977-A7FA-FE07-22150325C999}"/>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F85538DC-EEAC-71F2-8EED-1279465A76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7680EA-5802-A110-B0A0-CD0FC2ABD971}"/>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239055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2BD63-5C4F-FCEC-E237-3C93DAA3CA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50AC21D-7E7E-219C-D8A6-87EC577682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61E4D7-8BBC-7CAB-6ED6-3434B91E49CB}"/>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0BA3D955-7EAF-E36E-2EC0-4E5CAC2924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E7FE2E-7044-58CF-7A6F-F38001CC62EE}"/>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827087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9CE85-B682-094B-61A4-71E3153040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AF8867-348F-C7FE-4B84-F6798A0237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0FC7A98-4935-E411-C7A7-022ED661A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AA98A13-D3C3-902A-0EED-22809A6FC4E5}"/>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6" name="Footer Placeholder 5">
            <a:extLst>
              <a:ext uri="{FF2B5EF4-FFF2-40B4-BE49-F238E27FC236}">
                <a16:creationId xmlns:a16="http://schemas.microsoft.com/office/drawing/2014/main" id="{0FF498DD-939B-4E0E-6DC4-D983DA95DEC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EAD67D-A6BC-45D5-A0FA-1AB904DA0C18}"/>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377267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71446-CAC9-B24A-4E12-B4F051AF9C2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9608D8E-3678-84D8-A67C-8AFBA8DB6E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832284-69E9-5F8B-0D35-7C84C05C76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E2B4D66-C6C1-F5AC-CC66-64E3573CCA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A787F2-1AA1-889B-8F0A-E5DC273383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28E5BF-0B52-FABD-1EF4-37A414A71AEE}"/>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8" name="Footer Placeholder 7">
            <a:extLst>
              <a:ext uri="{FF2B5EF4-FFF2-40B4-BE49-F238E27FC236}">
                <a16:creationId xmlns:a16="http://schemas.microsoft.com/office/drawing/2014/main" id="{ACA62517-CBC4-F36B-9B44-42CCF2F41BF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3DC77FB-71E6-B4FA-7755-41043AB5052A}"/>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1975841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F3B0E-4ABA-95B9-FDC2-FDA024CFCA9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A6A940B-BA4B-104E-D62C-1C55DCB31C4A}"/>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4" name="Footer Placeholder 3">
            <a:extLst>
              <a:ext uri="{FF2B5EF4-FFF2-40B4-BE49-F238E27FC236}">
                <a16:creationId xmlns:a16="http://schemas.microsoft.com/office/drawing/2014/main" id="{0BE5E145-3E1F-E30A-7E48-0239674427C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B8677B-8BC0-9C9E-C5F4-7A96BE96308F}"/>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1997004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2FE988-E5CC-A319-82C2-0809A2A3D7BC}"/>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3" name="Footer Placeholder 2">
            <a:extLst>
              <a:ext uri="{FF2B5EF4-FFF2-40B4-BE49-F238E27FC236}">
                <a16:creationId xmlns:a16="http://schemas.microsoft.com/office/drawing/2014/main" id="{5BBB7861-B86D-6908-1C9A-F299E88C25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705D183-E385-8AEB-1C96-0776D945978F}"/>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280232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3D23-CD96-33E7-C1F7-97788A6B54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F5AF98C-A0F8-5D57-74DF-50C2D2B21E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DD9B1D1-A248-E5CD-80A5-513E38354C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1F9DC7-ED37-3B60-D1FC-846D7854368A}"/>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6" name="Footer Placeholder 5">
            <a:extLst>
              <a:ext uri="{FF2B5EF4-FFF2-40B4-BE49-F238E27FC236}">
                <a16:creationId xmlns:a16="http://schemas.microsoft.com/office/drawing/2014/main" id="{F18BAC67-E574-FFEE-A51E-06B88408DF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9016B65-D829-65A8-59E8-6325FCBF3DEA}"/>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293965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E949B-195D-909F-A417-55092589CA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0E4A89-27E5-2971-3B14-6BBB60C80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4A14AFE-CE55-956C-03C9-C0CEDB418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527A3-7A5D-B27C-3F39-6EAC8DDF6CE8}"/>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6" name="Footer Placeholder 5">
            <a:extLst>
              <a:ext uri="{FF2B5EF4-FFF2-40B4-BE49-F238E27FC236}">
                <a16:creationId xmlns:a16="http://schemas.microsoft.com/office/drawing/2014/main" id="{45D62933-9CE3-1971-D203-8ECAE7ED0FE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C72A7AB-5A4C-E50F-3464-1B11E8089D51}"/>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3647086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144C9-AA86-EA80-469B-0B603AA1106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E7CDD2-9BCF-5555-B8B2-6E0214229C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844B94-7A0F-9B45-D2B7-85E87EB7414C}"/>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FC3BE31D-6EDD-2646-C2E7-88F89646DA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38FFFC-B28A-9DC2-C2AB-0AD5E6A5AF5D}"/>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3264717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3155CE-BE48-8CBA-BAC3-3022B2AB1A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7AA5837-BA95-FBC2-EA8B-797F5B466C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264505-0638-10B4-DC69-3E01C6FF9DE5}"/>
              </a:ext>
            </a:extLst>
          </p:cNvPr>
          <p:cNvSpPr>
            <a:spLocks noGrp="1"/>
          </p:cNvSpPr>
          <p:nvPr>
            <p:ph type="dt" sz="half" idx="10"/>
          </p:nvPr>
        </p:nvSpPr>
        <p:spPr/>
        <p:txBody>
          <a:body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CE5C2079-B8B8-E3BA-0F04-7DE6C8B1FC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46234D-E1CB-6943-CEA8-FE35C077068A}"/>
              </a:ext>
            </a:extLst>
          </p:cNvPr>
          <p:cNvSpPr>
            <a:spLocks noGrp="1"/>
          </p:cNvSpPr>
          <p:nvPr>
            <p:ph type="sldNum" sz="quarter" idx="12"/>
          </p:nvPr>
        </p:nvSpPr>
        <p:spPr/>
        <p:txBody>
          <a:bodyPr/>
          <a:lstStyle/>
          <a:p>
            <a:fld id="{636C3E67-01BC-49BA-A2D9-83E377B4C5CF}" type="slidenum">
              <a:rPr lang="en-GB" smtClean="0"/>
              <a:t>‹#›</a:t>
            </a:fld>
            <a:endParaRPr lang="en-GB"/>
          </a:p>
        </p:txBody>
      </p:sp>
    </p:spTree>
    <p:extLst>
      <p:ext uri="{BB962C8B-B14F-4D97-AF65-F5344CB8AC3E}">
        <p14:creationId xmlns:p14="http://schemas.microsoft.com/office/powerpoint/2010/main" val="1151139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C11E38-EDC4-B32C-805E-41D88965AB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349DA4-B0F1-A7C3-7641-4F9259E6FB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5445F5-075F-9534-2894-48B52D6685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B320D-214C-4393-9862-812DAA21C2B0}" type="datetimeFigureOut">
              <a:rPr lang="en-GB" smtClean="0"/>
              <a:t>23/10/2025</a:t>
            </a:fld>
            <a:endParaRPr lang="en-GB"/>
          </a:p>
        </p:txBody>
      </p:sp>
      <p:sp>
        <p:nvSpPr>
          <p:cNvPr id="5" name="Footer Placeholder 4">
            <a:extLst>
              <a:ext uri="{FF2B5EF4-FFF2-40B4-BE49-F238E27FC236}">
                <a16:creationId xmlns:a16="http://schemas.microsoft.com/office/drawing/2014/main" id="{978FDBEC-9E9F-D544-2A3B-3A066E03D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A62F957-2E6E-13EE-1C7C-C670B7AC2C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6C3E67-01BC-49BA-A2D9-83E377B4C5CF}" type="slidenum">
              <a:rPr lang="en-GB" smtClean="0"/>
              <a:t>‹#›</a:t>
            </a:fld>
            <a:endParaRPr lang="en-GB"/>
          </a:p>
        </p:txBody>
      </p:sp>
    </p:spTree>
    <p:extLst>
      <p:ext uri="{BB962C8B-B14F-4D97-AF65-F5344CB8AC3E}">
        <p14:creationId xmlns:p14="http://schemas.microsoft.com/office/powerpoint/2010/main" val="4290069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nds holding each other's wrists and interlinked to form a circle">
            <a:extLst>
              <a:ext uri="{FF2B5EF4-FFF2-40B4-BE49-F238E27FC236}">
                <a16:creationId xmlns:a16="http://schemas.microsoft.com/office/drawing/2014/main" id="{93D2770E-1F7A-2CD7-DD92-51D9B76E0531}"/>
              </a:ext>
            </a:extLst>
          </p:cNvPr>
          <p:cNvPicPr>
            <a:picLocks noChangeAspect="1"/>
          </p:cNvPicPr>
          <p:nvPr/>
        </p:nvPicPr>
        <p:blipFill>
          <a:blip r:embed="rId2">
            <a:alphaModFix amt="50000"/>
          </a:blip>
          <a:srcRect r="-1" b="15708"/>
          <a:stretch>
            <a:fillRect/>
          </a:stretch>
        </p:blipFill>
        <p:spPr>
          <a:xfrm>
            <a:off x="20" y="39766"/>
            <a:ext cx="12188931" cy="6857990"/>
          </a:xfrm>
          <a:prstGeom prst="rect">
            <a:avLst/>
          </a:prstGeom>
        </p:spPr>
      </p:pic>
      <p:sp>
        <p:nvSpPr>
          <p:cNvPr id="2" name="Title 1">
            <a:extLst>
              <a:ext uri="{FF2B5EF4-FFF2-40B4-BE49-F238E27FC236}">
                <a16:creationId xmlns:a16="http://schemas.microsoft.com/office/drawing/2014/main" id="{CF5C8011-9C4F-CD53-2515-3336BD21A42E}"/>
              </a:ext>
            </a:extLst>
          </p:cNvPr>
          <p:cNvSpPr>
            <a:spLocks noGrp="1"/>
          </p:cNvSpPr>
          <p:nvPr>
            <p:ph type="ctrTitle"/>
          </p:nvPr>
        </p:nvSpPr>
        <p:spPr>
          <a:xfrm>
            <a:off x="1527048" y="1124712"/>
            <a:ext cx="9144000" cy="3063240"/>
          </a:xfrm>
        </p:spPr>
        <p:txBody>
          <a:bodyPr>
            <a:normAutofit/>
          </a:bodyPr>
          <a:lstStyle/>
          <a:p>
            <a:r>
              <a:rPr lang="en-GB" b="1" dirty="0">
                <a:solidFill>
                  <a:schemeClr val="bg1"/>
                </a:solidFill>
                <a:latin typeface="Candara" panose="020E0502030303020204" pitchFamily="34" charset="0"/>
              </a:rPr>
              <a:t>MENTALYTICS TEAM</a:t>
            </a:r>
          </a:p>
        </p:txBody>
      </p:sp>
      <p:sp>
        <p:nvSpPr>
          <p:cNvPr id="3" name="Subtitle 2">
            <a:extLst>
              <a:ext uri="{FF2B5EF4-FFF2-40B4-BE49-F238E27FC236}">
                <a16:creationId xmlns:a16="http://schemas.microsoft.com/office/drawing/2014/main" id="{BE3B6810-2717-E8E9-1F48-C2D8100FFCE4}"/>
              </a:ext>
            </a:extLst>
          </p:cNvPr>
          <p:cNvSpPr>
            <a:spLocks noGrp="1"/>
          </p:cNvSpPr>
          <p:nvPr>
            <p:ph type="subTitle" idx="1"/>
          </p:nvPr>
        </p:nvSpPr>
        <p:spPr>
          <a:xfrm>
            <a:off x="1527048" y="4599432"/>
            <a:ext cx="9144000" cy="1227520"/>
          </a:xfrm>
        </p:spPr>
        <p:txBody>
          <a:bodyPr>
            <a:normAutofit/>
          </a:bodyPr>
          <a:lstStyle/>
          <a:p>
            <a:r>
              <a:rPr lang="en-GB" sz="3000" dirty="0">
                <a:solidFill>
                  <a:schemeClr val="bg1"/>
                </a:solidFill>
                <a:latin typeface="Candara" panose="020E0502030303020204" pitchFamily="34" charset="0"/>
              </a:rPr>
              <a:t>Capstone Project Proposal</a:t>
            </a:r>
          </a:p>
        </p:txBody>
      </p:sp>
      <p:sp>
        <p:nvSpPr>
          <p:cNvPr id="2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chemeClr val="bg1">
                <a:alpha val="75000"/>
              </a:schemeClr>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241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8E0DB8-2653-5FF0-025B-5F368BC0337D}"/>
              </a:ext>
            </a:extLst>
          </p:cNvPr>
          <p:cNvSpPr>
            <a:spLocks noGrp="1"/>
          </p:cNvSpPr>
          <p:nvPr>
            <p:ph type="ctrTitle"/>
          </p:nvPr>
        </p:nvSpPr>
        <p:spPr>
          <a:xfrm>
            <a:off x="434847" y="843107"/>
            <a:ext cx="4442009" cy="3566160"/>
          </a:xfrm>
        </p:spPr>
        <p:txBody>
          <a:bodyPr anchor="b">
            <a:normAutofit/>
          </a:bodyPr>
          <a:lstStyle/>
          <a:p>
            <a:r>
              <a:rPr lang="en-GB" sz="5000" b="1" dirty="0">
                <a:latin typeface="Candara" panose="020E0502030303020204" pitchFamily="34" charset="0"/>
              </a:rPr>
              <a:t>Project Title </a:t>
            </a:r>
            <a:endParaRPr lang="en-GB" sz="5000" dirty="0"/>
          </a:p>
        </p:txBody>
      </p:sp>
      <p:sp>
        <p:nvSpPr>
          <p:cNvPr id="3" name="Subtitle 2">
            <a:extLst>
              <a:ext uri="{FF2B5EF4-FFF2-40B4-BE49-F238E27FC236}">
                <a16:creationId xmlns:a16="http://schemas.microsoft.com/office/drawing/2014/main" id="{A9493DA3-E868-4109-88D8-982BC8F5492B}"/>
              </a:ext>
            </a:extLst>
          </p:cNvPr>
          <p:cNvSpPr>
            <a:spLocks noGrp="1"/>
          </p:cNvSpPr>
          <p:nvPr>
            <p:ph type="subTitle" idx="1"/>
          </p:nvPr>
        </p:nvSpPr>
        <p:spPr>
          <a:xfrm>
            <a:off x="890339" y="4636008"/>
            <a:ext cx="3734014" cy="1572768"/>
          </a:xfrm>
        </p:spPr>
        <p:txBody>
          <a:bodyPr>
            <a:normAutofit/>
          </a:bodyPr>
          <a:lstStyle/>
          <a:p>
            <a:pPr algn="l"/>
            <a:r>
              <a:rPr lang="en-GB" b="1" dirty="0">
                <a:latin typeface="Candara" panose="020E0502030303020204" pitchFamily="34" charset="0"/>
              </a:rPr>
              <a:t>Analysis of Remote Work and Its Impact on Mental Health</a:t>
            </a:r>
          </a:p>
        </p:txBody>
      </p:sp>
      <p:sp>
        <p:nvSpPr>
          <p:cNvPr id="4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art of brain">
            <a:extLst>
              <a:ext uri="{FF2B5EF4-FFF2-40B4-BE49-F238E27FC236}">
                <a16:creationId xmlns:a16="http://schemas.microsoft.com/office/drawing/2014/main" id="{7AB0A512-A7D2-B213-EF74-EFAB07D2B9E1}"/>
              </a:ext>
            </a:extLst>
          </p:cNvPr>
          <p:cNvPicPr>
            <a:picLocks noChangeAspect="1"/>
          </p:cNvPicPr>
          <p:nvPr/>
        </p:nvPicPr>
        <p:blipFill>
          <a:blip r:embed="rId2"/>
          <a:srcRect l="4108" r="39472"/>
          <a:stretch>
            <a:fillRect/>
          </a:stretch>
        </p:blipFill>
        <p:spPr>
          <a:xfrm>
            <a:off x="5311702" y="10"/>
            <a:ext cx="6878775" cy="6857990"/>
          </a:xfrm>
          <a:prstGeom prst="rect">
            <a:avLst/>
          </a:prstGeom>
          <a:ln>
            <a:noFill/>
          </a:ln>
          <a:effectLst>
            <a:softEdge rad="112500"/>
          </a:effectLst>
        </p:spPr>
      </p:pic>
      <p:sp>
        <p:nvSpPr>
          <p:cNvPr id="4" name="Arrow: Down 3">
            <a:extLst>
              <a:ext uri="{FF2B5EF4-FFF2-40B4-BE49-F238E27FC236}">
                <a16:creationId xmlns:a16="http://schemas.microsoft.com/office/drawing/2014/main" id="{8661EC84-2B1C-43D2-8945-D541D0FAAF9D}"/>
              </a:ext>
            </a:extLst>
          </p:cNvPr>
          <p:cNvSpPr/>
          <p:nvPr/>
        </p:nvSpPr>
        <p:spPr>
          <a:xfrm>
            <a:off x="1603513" y="0"/>
            <a:ext cx="1563756" cy="2160104"/>
          </a:xfrm>
          <a:prstGeom prst="downArrow">
            <a:avLst/>
          </a:prstGeom>
          <a:solidFill>
            <a:schemeClr val="accent2"/>
          </a:solidFill>
          <a:ln>
            <a:solidFill>
              <a:schemeClr val="bg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NG"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52156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5" presetClass="exit" presetSubtype="0" fill="hold" grpId="0" nodeType="clickEffect">
                                  <p:stCondLst>
                                    <p:cond delay="0"/>
                                  </p:stCondLst>
                                  <p:childTnLst>
                                    <p:animEffect transition="out" filter="fade">
                                      <p:cBhvr>
                                        <p:cTn id="16" dur="2000"/>
                                        <p:tgtEl>
                                          <p:spTgt spid="4"/>
                                        </p:tgtEl>
                                      </p:cBhvr>
                                    </p:animEffect>
                                    <p:anim calcmode="lin" valueType="num">
                                      <p:cBhvr>
                                        <p:cTn id="17" dur="2000"/>
                                        <p:tgtEl>
                                          <p:spTgt spid="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8" dur="2000"/>
                                        <p:tgtEl>
                                          <p:spTgt spid="4"/>
                                        </p:tgtEl>
                                        <p:attrNameLst>
                                          <p:attrName>ppt_h</p:attrName>
                                        </p:attrNameLst>
                                      </p:cBhvr>
                                      <p:tavLst>
                                        <p:tav tm="0">
                                          <p:val>
                                            <p:strVal val="ppt_h"/>
                                          </p:val>
                                        </p:tav>
                                        <p:tav tm="100000">
                                          <p:val>
                                            <p:strVal val="ppt_h"/>
                                          </p:val>
                                        </p:tav>
                                      </p:tavLst>
                                    </p:anim>
                                    <p:set>
                                      <p:cBhvr>
                                        <p:cTn id="19" dur="1" fill="hold">
                                          <p:stCondLst>
                                            <p:cond delay="1999"/>
                                          </p:stCondLst>
                                        </p:cTn>
                                        <p:tgtEl>
                                          <p:spTgt spid="4"/>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1000"/>
                                        <p:tgtEl>
                                          <p:spTgt spid="3">
                                            <p:txEl>
                                              <p:pRg st="0" end="0"/>
                                            </p:txEl>
                                          </p:spTgt>
                                        </p:tgtEl>
                                      </p:cBhvr>
                                    </p:animEffect>
                                    <p:anim calcmode="lin" valueType="num">
                                      <p:cBhvr>
                                        <p:cTn id="2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1" name="Rectangle 430">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Oval 432">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41B64-6135-334A-1409-CF6A4C886FCF}"/>
              </a:ext>
            </a:extLst>
          </p:cNvPr>
          <p:cNvSpPr>
            <a:spLocks noGrp="1"/>
          </p:cNvSpPr>
          <p:nvPr>
            <p:ph type="title"/>
          </p:nvPr>
        </p:nvSpPr>
        <p:spPr>
          <a:xfrm>
            <a:off x="776025" y="1396686"/>
            <a:ext cx="4046265" cy="4064628"/>
          </a:xfrm>
          <a:effectLst>
            <a:innerShdw blurRad="114300">
              <a:prstClr val="black"/>
            </a:innerShdw>
          </a:effectLst>
        </p:spPr>
        <p:txBody>
          <a:bodyPr>
            <a:normAutofit/>
          </a:bodyPr>
          <a:lstStyle/>
          <a:p>
            <a:pPr algn="ctr"/>
            <a:r>
              <a:rPr lang="en-GB" sz="5000" b="1" dirty="0">
                <a:solidFill>
                  <a:srgbClr val="FFFFFF"/>
                </a:solidFill>
                <a:latin typeface="Candara" panose="020E0502030303020204" pitchFamily="34" charset="0"/>
              </a:rPr>
              <a:t>Mentalytics</a:t>
            </a:r>
            <a:br>
              <a:rPr lang="en-GB" sz="5000" b="1" dirty="0">
                <a:solidFill>
                  <a:srgbClr val="FFFFFF"/>
                </a:solidFill>
                <a:latin typeface="Candara" panose="020E0502030303020204" pitchFamily="34" charset="0"/>
              </a:rPr>
            </a:br>
            <a:r>
              <a:rPr lang="en-GB" sz="5000" b="1" dirty="0">
                <a:solidFill>
                  <a:srgbClr val="FFFFFF"/>
                </a:solidFill>
                <a:latin typeface="Candara" panose="020E0502030303020204" pitchFamily="34" charset="0"/>
              </a:rPr>
              <a:t>Members </a:t>
            </a:r>
          </a:p>
        </p:txBody>
      </p:sp>
      <p:sp>
        <p:nvSpPr>
          <p:cNvPr id="435" name="Arc 434">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37" name="Oval 436">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59BF414-1B02-6C51-C6C6-F4CADD3F4EB1}"/>
              </a:ext>
            </a:extLst>
          </p:cNvPr>
          <p:cNvSpPr>
            <a:spLocks noGrp="1"/>
          </p:cNvSpPr>
          <p:nvPr>
            <p:ph idx="1"/>
          </p:nvPr>
        </p:nvSpPr>
        <p:spPr>
          <a:xfrm>
            <a:off x="5370153" y="1526033"/>
            <a:ext cx="5501047" cy="4212936"/>
          </a:xfrm>
        </p:spPr>
        <p:txBody>
          <a:bodyPr>
            <a:noAutofit/>
          </a:bodyPr>
          <a:lstStyle/>
          <a:p>
            <a:pPr marL="0" indent="0">
              <a:buNone/>
            </a:pPr>
            <a:r>
              <a:rPr lang="en-US" sz="2000" dirty="0">
                <a:latin typeface="Candara" panose="020E0502030303020204" pitchFamily="34" charset="0"/>
              </a:rPr>
              <a:t>DA/2025/TC3/006 | DA/2025/TC3/032 | DA/2025/TC3/059 | DA/2025/TC3/141 | DA/2025/TC3/215 | DA/2025/TC3/216 | DA/2025/TC3/317 | DA/2025/TC3/417 | DA/2025/TC3/440 | DA/2025/TC3/473 | DA/2025/TC3/503 | DA/2025/TC3/550 | DA/2025/TC3/568 | DA/2025/TC3/593 | DA/2025/TC3/632 | DA/2025/TC3/667 | DA/2025/TC3/668 | DA/2025/TC3/696 | DA/2025/TC3/698 | DA/2025/TC3/754 | DA/2025/TC3/756 | DA/2025/TC3/771 | DA/2025/TC3/774 | DA/2025/TC3/796 | DA/2025/TC3/828 | DA/2025/TC3/861 | DA/2025/TC3/870 | DA/2025/TC3/882 | DA/2025/TC3/933 | DA/2025/TC3/1002</a:t>
            </a:r>
            <a:endParaRPr lang="en-GB" sz="2000" dirty="0">
              <a:latin typeface="Candara" panose="020E0502030303020204" pitchFamily="34" charset="0"/>
            </a:endParaRPr>
          </a:p>
        </p:txBody>
      </p:sp>
    </p:spTree>
    <p:extLst>
      <p:ext uri="{BB962C8B-B14F-4D97-AF65-F5344CB8AC3E}">
        <p14:creationId xmlns:p14="http://schemas.microsoft.com/office/powerpoint/2010/main" val="22593581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tar: 5 Points 2">
            <a:extLst>
              <a:ext uri="{FF2B5EF4-FFF2-40B4-BE49-F238E27FC236}">
                <a16:creationId xmlns:a16="http://schemas.microsoft.com/office/drawing/2014/main" id="{64A5C8CB-3DA3-4FA3-B91D-CDF0A290BC18}"/>
              </a:ext>
            </a:extLst>
          </p:cNvPr>
          <p:cNvSpPr/>
          <p:nvPr/>
        </p:nvSpPr>
        <p:spPr>
          <a:xfrm>
            <a:off x="4691269" y="1099930"/>
            <a:ext cx="1716400" cy="1353255"/>
          </a:xfrm>
          <a:prstGeom prst="star5">
            <a:avLst/>
          </a:prstGeom>
          <a:solidFill>
            <a:schemeClr val="accent2"/>
          </a:solidFill>
          <a:ln>
            <a:solidFill>
              <a:schemeClr val="bg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itle 1">
            <a:extLst>
              <a:ext uri="{FF2B5EF4-FFF2-40B4-BE49-F238E27FC236}">
                <a16:creationId xmlns:a16="http://schemas.microsoft.com/office/drawing/2014/main" id="{5E2B0E7E-3F72-C921-CA38-7B6344B05EA3}"/>
              </a:ext>
            </a:extLst>
          </p:cNvPr>
          <p:cNvSpPr>
            <a:spLocks noGrp="1"/>
          </p:cNvSpPr>
          <p:nvPr>
            <p:ph type="title"/>
          </p:nvPr>
        </p:nvSpPr>
        <p:spPr>
          <a:xfrm>
            <a:off x="640080" y="1561658"/>
            <a:ext cx="4368602" cy="891527"/>
          </a:xfrm>
        </p:spPr>
        <p:txBody>
          <a:bodyPr vert="horz" lIns="91440" tIns="45720" rIns="91440" bIns="45720" rtlCol="0" anchor="b">
            <a:normAutofit/>
          </a:bodyPr>
          <a:lstStyle/>
          <a:p>
            <a:r>
              <a:rPr lang="en-US" sz="5000" b="1" dirty="0">
                <a:latin typeface="Candara" panose="020E0502030303020204" pitchFamily="34" charset="0"/>
              </a:rPr>
              <a:t>Introduction</a:t>
            </a:r>
          </a:p>
        </p:txBody>
      </p:sp>
      <p:sp>
        <p:nvSpPr>
          <p:cNvPr id="1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180F713-97B0-7F43-73BA-F2309D357CF7}"/>
              </a:ext>
            </a:extLst>
          </p:cNvPr>
          <p:cNvSpPr>
            <a:spLocks noGrp="1"/>
          </p:cNvSpPr>
          <p:nvPr>
            <p:ph type="body" sz="half" idx="2"/>
          </p:nvPr>
        </p:nvSpPr>
        <p:spPr>
          <a:xfrm>
            <a:off x="640080" y="2872899"/>
            <a:ext cx="4243589" cy="3320668"/>
          </a:xfrm>
        </p:spPr>
        <p:txBody>
          <a:bodyPr vert="horz" lIns="91440" tIns="45720" rIns="91440" bIns="45720" rtlCol="0">
            <a:normAutofit fontScale="92500" lnSpcReduction="20000"/>
          </a:bodyPr>
          <a:lstStyle/>
          <a:p>
            <a:pPr algn="just"/>
            <a:r>
              <a:rPr lang="en-US" sz="2200" dirty="0">
                <a:latin typeface="Candara" panose="020E0502030303020204" pitchFamily="34" charset="0"/>
              </a:rPr>
              <a:t>The concept of remote work has become increasingly popular in recent years, especially after the COVID-19 pandemic. While it offers flexibility and convenience, it also poses challenges to employees’ mental well-being. Issues like social isolation, burnout, and poor work-life balance have emerged, affecting productivity and happiness. This project seeks to understand how remote work influences mental health and what organizations and individuals can learn from these patterns.</a:t>
            </a:r>
          </a:p>
          <a:p>
            <a:pPr indent="-228600">
              <a:buFont typeface="Arial" panose="020B0604020202020204" pitchFamily="34" charset="0"/>
              <a:buChar char="•"/>
            </a:pPr>
            <a:endParaRPr lang="en-US" sz="1700" dirty="0"/>
          </a:p>
        </p:txBody>
      </p:sp>
      <p:pic>
        <p:nvPicPr>
          <p:cNvPr id="6" name="Content Placeholder 5" descr="A collage of two people using laptops&#10;&#10;Description automatically generated">
            <a:extLst>
              <a:ext uri="{FF2B5EF4-FFF2-40B4-BE49-F238E27FC236}">
                <a16:creationId xmlns:a16="http://schemas.microsoft.com/office/drawing/2014/main" id="{6A9D0327-46FF-6D3E-8234-8D02F7D008F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4936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1550422-1B32-CE37-715C-0ABF69669B8E}"/>
              </a:ext>
            </a:extLst>
          </p:cNvPr>
          <p:cNvSpPr>
            <a:spLocks noGrp="1"/>
          </p:cNvSpPr>
          <p:nvPr>
            <p:ph type="title"/>
          </p:nvPr>
        </p:nvSpPr>
        <p:spPr>
          <a:xfrm>
            <a:off x="838200" y="401221"/>
            <a:ext cx="10515600" cy="1348065"/>
          </a:xfrm>
        </p:spPr>
        <p:txBody>
          <a:bodyPr>
            <a:normAutofit/>
          </a:bodyPr>
          <a:lstStyle/>
          <a:p>
            <a:r>
              <a:rPr lang="en-GB" sz="5000" b="1" dirty="0">
                <a:solidFill>
                  <a:srgbClr val="FFFFFF"/>
                </a:solidFill>
                <a:latin typeface="Candara" panose="020E0502030303020204" pitchFamily="34" charset="0"/>
              </a:rPr>
              <a:t>Problem</a:t>
            </a:r>
            <a:r>
              <a:rPr lang="en-GB" sz="5400" b="1" dirty="0">
                <a:solidFill>
                  <a:srgbClr val="FFFFFF"/>
                </a:solidFill>
                <a:latin typeface="Candara" panose="020E0502030303020204" pitchFamily="34" charset="0"/>
              </a:rPr>
              <a:t> Statement</a:t>
            </a:r>
          </a:p>
        </p:txBody>
      </p:sp>
      <p:sp>
        <p:nvSpPr>
          <p:cNvPr id="3" name="Content Placeholder 2">
            <a:extLst>
              <a:ext uri="{FF2B5EF4-FFF2-40B4-BE49-F238E27FC236}">
                <a16:creationId xmlns:a16="http://schemas.microsoft.com/office/drawing/2014/main" id="{263C7BCA-80CF-DEE3-44B6-242C5C7863B8}"/>
              </a:ext>
            </a:extLst>
          </p:cNvPr>
          <p:cNvSpPr>
            <a:spLocks noGrp="1"/>
          </p:cNvSpPr>
          <p:nvPr>
            <p:ph idx="1"/>
          </p:nvPr>
        </p:nvSpPr>
        <p:spPr>
          <a:xfrm>
            <a:off x="530087" y="2538955"/>
            <a:ext cx="6520070" cy="3822087"/>
          </a:xfrm>
        </p:spPr>
        <p:txBody>
          <a:bodyPr>
            <a:normAutofit/>
          </a:bodyPr>
          <a:lstStyle/>
          <a:p>
            <a:pPr marL="0" indent="0" algn="just">
              <a:buNone/>
            </a:pPr>
            <a:endParaRPr lang="en-US" sz="2400" dirty="0">
              <a:latin typeface="Candara" panose="020E0502030303020204" pitchFamily="34" charset="0"/>
            </a:endParaRPr>
          </a:p>
          <a:p>
            <a:pPr marL="0" indent="0" algn="just">
              <a:buNone/>
            </a:pPr>
            <a:r>
              <a:rPr lang="en-US" sz="2400" dirty="0">
                <a:latin typeface="Candara" panose="020E0502030303020204" pitchFamily="34" charset="0"/>
              </a:rPr>
              <a:t>The growing adoption of remote work has led to rising concerns about stress, burnout, and reduced work-life balance among employees. Mentalytics Team aims to analyze existing datasets to uncover the factors influencing mental health in remote settings. The goal is to provide actionable insights that organizations and individuals can use to create better mental health support systems.</a:t>
            </a:r>
            <a:endParaRPr lang="en-GB" sz="2400" dirty="0">
              <a:latin typeface="Candara" panose="020E0502030303020204" pitchFamily="34" charset="0"/>
            </a:endParaRPr>
          </a:p>
        </p:txBody>
      </p:sp>
      <p:pic>
        <p:nvPicPr>
          <p:cNvPr id="5" name="Picture 4">
            <a:extLst>
              <a:ext uri="{FF2B5EF4-FFF2-40B4-BE49-F238E27FC236}">
                <a16:creationId xmlns:a16="http://schemas.microsoft.com/office/drawing/2014/main" id="{D4F9B509-5F8E-4E86-8045-E28C1C1FC3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4615" y="2552790"/>
            <a:ext cx="3305175" cy="3295650"/>
          </a:xfrm>
          <a:prstGeom prst="ellipse">
            <a:avLst/>
          </a:prstGeom>
          <a:ln>
            <a:solidFill>
              <a:schemeClr val="bg1"/>
            </a:solidFill>
          </a:ln>
          <a:effectLst>
            <a:reflection blurRad="6350" stA="52000" endA="300" endPos="35000" dir="5400000" sy="-100000" algn="bl" rotWithShape="0"/>
            <a:softEdge rad="112500"/>
          </a:effectLst>
        </p:spPr>
      </p:pic>
    </p:spTree>
    <p:extLst>
      <p:ext uri="{BB962C8B-B14F-4D97-AF65-F5344CB8AC3E}">
        <p14:creationId xmlns:p14="http://schemas.microsoft.com/office/powerpoint/2010/main" val="3175841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9D878B-9BF4-C7DC-577E-46AC28AC600E}"/>
              </a:ext>
            </a:extLst>
          </p:cNvPr>
          <p:cNvSpPr>
            <a:spLocks noGrp="1"/>
          </p:cNvSpPr>
          <p:nvPr>
            <p:ph type="title"/>
          </p:nvPr>
        </p:nvSpPr>
        <p:spPr>
          <a:xfrm>
            <a:off x="5297762" y="329184"/>
            <a:ext cx="6251110" cy="1783080"/>
          </a:xfrm>
        </p:spPr>
        <p:txBody>
          <a:bodyPr anchor="b">
            <a:normAutofit/>
          </a:bodyPr>
          <a:lstStyle/>
          <a:p>
            <a:r>
              <a:rPr lang="en-GB" sz="5000" b="1" dirty="0">
                <a:latin typeface="Candara" panose="020E0502030303020204" pitchFamily="34" charset="0"/>
              </a:rPr>
              <a:t>Objectives</a:t>
            </a:r>
          </a:p>
        </p:txBody>
      </p:sp>
      <p:pic>
        <p:nvPicPr>
          <p:cNvPr id="12" name="Picture 4" descr="Red toy person in front of two lines of white figures">
            <a:extLst>
              <a:ext uri="{FF2B5EF4-FFF2-40B4-BE49-F238E27FC236}">
                <a16:creationId xmlns:a16="http://schemas.microsoft.com/office/drawing/2014/main" id="{51F6F11A-E5CC-0928-0A1B-8F87AEC0B9E7}"/>
              </a:ext>
            </a:extLst>
          </p:cNvPr>
          <p:cNvPicPr>
            <a:picLocks noChangeAspect="1"/>
          </p:cNvPicPr>
          <p:nvPr/>
        </p:nvPicPr>
        <p:blipFill>
          <a:blip r:embed="rId2"/>
          <a:srcRect l="29602" r="2574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10ABC3-1BEA-2444-56E0-5226D8A2FFAA}"/>
              </a:ext>
            </a:extLst>
          </p:cNvPr>
          <p:cNvSpPr>
            <a:spLocks noGrp="1"/>
          </p:cNvSpPr>
          <p:nvPr>
            <p:ph idx="1"/>
          </p:nvPr>
        </p:nvSpPr>
        <p:spPr>
          <a:xfrm>
            <a:off x="5297762" y="2706624"/>
            <a:ext cx="6251110" cy="3483864"/>
          </a:xfrm>
        </p:spPr>
        <p:txBody>
          <a:bodyPr>
            <a:normAutofit/>
          </a:bodyPr>
          <a:lstStyle/>
          <a:p>
            <a:r>
              <a:rPr lang="en-US" sz="2400" dirty="0">
                <a:latin typeface="Candara" panose="020E0502030303020204" pitchFamily="34" charset="0"/>
              </a:rPr>
              <a:t>To identify key factors influencing the mental health of remote workers. </a:t>
            </a:r>
          </a:p>
          <a:p>
            <a:r>
              <a:rPr lang="en-US" sz="2400" dirty="0">
                <a:latin typeface="Candara" panose="020E0502030303020204" pitchFamily="34" charset="0"/>
              </a:rPr>
              <a:t>To assess relationships between workload, work-life balance, and mental wellness. </a:t>
            </a:r>
          </a:p>
          <a:p>
            <a:r>
              <a:rPr lang="en-US" sz="2400" dirty="0">
                <a:latin typeface="Candara" panose="020E0502030303020204" pitchFamily="34" charset="0"/>
              </a:rPr>
              <a:t>To explore how gender and job satisfaction relate to stress or burnout levels. </a:t>
            </a:r>
          </a:p>
          <a:p>
            <a:r>
              <a:rPr lang="en-US" sz="2400" dirty="0">
                <a:latin typeface="Candara" panose="020E0502030303020204" pitchFamily="34" charset="0"/>
              </a:rPr>
              <a:t>To recommend strategies that promote healthier remote work experiences.</a:t>
            </a:r>
            <a:endParaRPr lang="en-GB" sz="2400" dirty="0">
              <a:latin typeface="Candara" panose="020E0502030303020204" pitchFamily="34" charset="0"/>
            </a:endParaRPr>
          </a:p>
        </p:txBody>
      </p:sp>
    </p:spTree>
    <p:extLst>
      <p:ext uri="{BB962C8B-B14F-4D97-AF65-F5344CB8AC3E}">
        <p14:creationId xmlns:p14="http://schemas.microsoft.com/office/powerpoint/2010/main" val="1316663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Diagonal Corners Snipped 3">
            <a:extLst>
              <a:ext uri="{FF2B5EF4-FFF2-40B4-BE49-F238E27FC236}">
                <a16:creationId xmlns:a16="http://schemas.microsoft.com/office/drawing/2014/main" id="{7B7ABCBB-1C66-4CE4-90C8-7241DA279132}"/>
              </a:ext>
            </a:extLst>
          </p:cNvPr>
          <p:cNvSpPr/>
          <p:nvPr/>
        </p:nvSpPr>
        <p:spPr>
          <a:xfrm>
            <a:off x="838200" y="365125"/>
            <a:ext cx="5708374" cy="1052858"/>
          </a:xfrm>
          <a:prstGeom prst="snip2DiagRect">
            <a:avLst/>
          </a:prstGeom>
          <a:solidFill>
            <a:schemeClr val="accent2"/>
          </a:solidFill>
          <a:ln>
            <a:solidFill>
              <a:schemeClr val="bg1"/>
            </a:solid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itle 1">
            <a:extLst>
              <a:ext uri="{FF2B5EF4-FFF2-40B4-BE49-F238E27FC236}">
                <a16:creationId xmlns:a16="http://schemas.microsoft.com/office/drawing/2014/main" id="{41B91D74-E865-4A60-A300-A716851BE7C5}"/>
              </a:ext>
            </a:extLst>
          </p:cNvPr>
          <p:cNvSpPr>
            <a:spLocks noGrp="1"/>
          </p:cNvSpPr>
          <p:nvPr>
            <p:ph type="title"/>
          </p:nvPr>
        </p:nvSpPr>
        <p:spPr>
          <a:xfrm>
            <a:off x="851452" y="431385"/>
            <a:ext cx="10515600" cy="1325563"/>
          </a:xfrm>
        </p:spPr>
        <p:txBody>
          <a:bodyPr/>
          <a:lstStyle/>
          <a:p>
            <a:r>
              <a:rPr lang="en-US" b="1" dirty="0">
                <a:latin typeface="Candara" panose="020E0502030303020204" pitchFamily="34" charset="0"/>
              </a:rPr>
              <a:t>Research Question</a:t>
            </a:r>
            <a:endParaRPr lang="en-NG" b="1" dirty="0">
              <a:latin typeface="Candara" panose="020E0502030303020204" pitchFamily="34" charset="0"/>
            </a:endParaRPr>
          </a:p>
        </p:txBody>
      </p:sp>
      <p:pic>
        <p:nvPicPr>
          <p:cNvPr id="6" name="Picture 5">
            <a:extLst>
              <a:ext uri="{FF2B5EF4-FFF2-40B4-BE49-F238E27FC236}">
                <a16:creationId xmlns:a16="http://schemas.microsoft.com/office/drawing/2014/main" id="{023E964A-FCB7-4487-BA2A-B6411E878C89}"/>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1311965" y="1963392"/>
            <a:ext cx="10880035" cy="4799357"/>
          </a:xfrm>
          <a:prstGeom prst="rect">
            <a:avLst/>
          </a:prstGeom>
          <a:ln>
            <a:noFill/>
          </a:ln>
          <a:effectLst>
            <a:softEdge rad="635000"/>
          </a:effectLst>
        </p:spPr>
      </p:pic>
      <p:sp>
        <p:nvSpPr>
          <p:cNvPr id="3" name="Content Placeholder 2">
            <a:extLst>
              <a:ext uri="{FF2B5EF4-FFF2-40B4-BE49-F238E27FC236}">
                <a16:creationId xmlns:a16="http://schemas.microsoft.com/office/drawing/2014/main" id="{C47F5B79-BC1A-4BD6-8162-C9C2DB67C468}"/>
              </a:ext>
            </a:extLst>
          </p:cNvPr>
          <p:cNvSpPr>
            <a:spLocks noGrp="1"/>
          </p:cNvSpPr>
          <p:nvPr>
            <p:ph idx="1"/>
          </p:nvPr>
        </p:nvSpPr>
        <p:spPr>
          <a:xfrm>
            <a:off x="848139" y="1690688"/>
            <a:ext cx="10515600" cy="4758980"/>
          </a:xfrm>
        </p:spPr>
        <p:txBody>
          <a:bodyPr>
            <a:normAutofit/>
          </a:bodyPr>
          <a:lstStyle/>
          <a:p>
            <a:endParaRPr lang="en-US" dirty="0"/>
          </a:p>
          <a:p>
            <a:r>
              <a:rPr lang="en-US" sz="2500" dirty="0">
                <a:latin typeface="Candara" panose="020E0502030303020204" pitchFamily="34" charset="0"/>
              </a:rPr>
              <a:t>Which factors are most strongly associated with mental health outcomes?</a:t>
            </a:r>
          </a:p>
          <a:p>
            <a:r>
              <a:rPr lang="en-US" sz="2500" dirty="0">
                <a:latin typeface="Candara" panose="020E0502030303020204" pitchFamily="34" charset="0"/>
              </a:rPr>
              <a:t>Which remote-work conditions predict higher stress, anxiety, or burnout?</a:t>
            </a:r>
          </a:p>
          <a:p>
            <a:r>
              <a:rPr lang="en-US" sz="2500" dirty="0">
                <a:latin typeface="Candara" panose="020E0502030303020204" pitchFamily="34" charset="0"/>
              </a:rPr>
              <a:t>Is poor work–life balance related to increased burnout or lower job satisfaction?</a:t>
            </a:r>
          </a:p>
          <a:p>
            <a:r>
              <a:rPr lang="en-US" sz="2500" dirty="0">
                <a:latin typeface="Candara" panose="020E0502030303020204" pitchFamily="34" charset="0"/>
              </a:rPr>
              <a:t>How does job satisfaction vary by gender, and how is that connected to stress/burnout?</a:t>
            </a:r>
          </a:p>
          <a:p>
            <a:r>
              <a:rPr lang="en-US" sz="2500" dirty="0">
                <a:latin typeface="Candara" panose="020E0502030303020204" pitchFamily="34" charset="0"/>
              </a:rPr>
              <a:t>What work-life balance or workload policies seem most supported by data?</a:t>
            </a:r>
          </a:p>
          <a:p>
            <a:pPr marL="0" indent="0">
              <a:buNone/>
            </a:pPr>
            <a:endParaRPr lang="en-NG" dirty="0"/>
          </a:p>
        </p:txBody>
      </p:sp>
    </p:spTree>
    <p:extLst>
      <p:ext uri="{BB962C8B-B14F-4D97-AF65-F5344CB8AC3E}">
        <p14:creationId xmlns:p14="http://schemas.microsoft.com/office/powerpoint/2010/main" val="2142278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618178-3297-257E-A61F-62116537C0C4}"/>
              </a:ext>
            </a:extLst>
          </p:cNvPr>
          <p:cNvSpPr>
            <a:spLocks noGrp="1"/>
          </p:cNvSpPr>
          <p:nvPr>
            <p:ph type="title"/>
          </p:nvPr>
        </p:nvSpPr>
        <p:spPr>
          <a:xfrm>
            <a:off x="5297593" y="415638"/>
            <a:ext cx="6251110" cy="1783080"/>
          </a:xfrm>
        </p:spPr>
        <p:txBody>
          <a:bodyPr anchor="b">
            <a:normAutofit/>
          </a:bodyPr>
          <a:lstStyle/>
          <a:p>
            <a:r>
              <a:rPr lang="en-GB" sz="5000" b="1" dirty="0">
                <a:latin typeface="Candara" panose="020E0502030303020204" pitchFamily="34" charset="0"/>
              </a:rPr>
              <a:t>Primary Dataset</a:t>
            </a:r>
          </a:p>
        </p:txBody>
      </p:sp>
      <p:pic>
        <p:nvPicPr>
          <p:cNvPr id="14" name="Picture 4">
            <a:extLst>
              <a:ext uri="{FF2B5EF4-FFF2-40B4-BE49-F238E27FC236}">
                <a16:creationId xmlns:a16="http://schemas.microsoft.com/office/drawing/2014/main" id="{EAB1A88C-8369-41C4-3AC3-BE239D2DEE4C}"/>
              </a:ext>
            </a:extLst>
          </p:cNvPr>
          <p:cNvPicPr>
            <a:picLocks noChangeAspect="1"/>
          </p:cNvPicPr>
          <p:nvPr/>
        </p:nvPicPr>
        <p:blipFill>
          <a:blip r:embed="rId2"/>
          <a:srcRect l="19921" r="41879"/>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E416AB-6882-2279-12B2-F5290FA83B73}"/>
              </a:ext>
            </a:extLst>
          </p:cNvPr>
          <p:cNvSpPr>
            <a:spLocks noGrp="1"/>
          </p:cNvSpPr>
          <p:nvPr>
            <p:ph idx="1"/>
          </p:nvPr>
        </p:nvSpPr>
        <p:spPr>
          <a:xfrm>
            <a:off x="5297593" y="2569463"/>
            <a:ext cx="6251110" cy="3872899"/>
          </a:xfrm>
        </p:spPr>
        <p:txBody>
          <a:bodyPr>
            <a:noAutofit/>
          </a:bodyPr>
          <a:lstStyle/>
          <a:p>
            <a:pPr marL="0" indent="0">
              <a:buNone/>
            </a:pPr>
            <a:r>
              <a:rPr lang="en-US" sz="1800" dirty="0">
                <a:latin typeface="Candara" panose="020E0502030303020204" pitchFamily="34" charset="0"/>
              </a:rPr>
              <a:t>Source: Kaggle - Remote Work and Mental Health </a:t>
            </a:r>
          </a:p>
          <a:p>
            <a:pPr marL="0" indent="0">
              <a:buNone/>
            </a:pPr>
            <a:r>
              <a:rPr lang="en-US" sz="1800" dirty="0">
                <a:latin typeface="Candara" panose="020E0502030303020204" pitchFamily="34" charset="0"/>
              </a:rPr>
              <a:t>Description: This dataset contains survey data from employees working remotely, onsite &amp; hybrid. It includes the following variables: </a:t>
            </a:r>
          </a:p>
          <a:p>
            <a:pPr lvl="1">
              <a:buFont typeface="Wingdings" panose="05000000000000000000" pitchFamily="2" charset="2"/>
              <a:buChar char="v"/>
            </a:pPr>
            <a:r>
              <a:rPr lang="en-US" sz="1800" dirty="0">
                <a:latin typeface="Candara" panose="020E0502030303020204" pitchFamily="34" charset="0"/>
              </a:rPr>
              <a:t>Age </a:t>
            </a:r>
          </a:p>
          <a:p>
            <a:pPr lvl="1">
              <a:buFont typeface="Wingdings" panose="05000000000000000000" pitchFamily="2" charset="2"/>
              <a:buChar char="v"/>
            </a:pPr>
            <a:r>
              <a:rPr lang="en-US" sz="1800" dirty="0">
                <a:latin typeface="Candara" panose="020E0502030303020204" pitchFamily="34" charset="0"/>
              </a:rPr>
              <a:t>Gender (Male/Female) </a:t>
            </a:r>
          </a:p>
          <a:p>
            <a:pPr lvl="1">
              <a:buFont typeface="Wingdings" panose="05000000000000000000" pitchFamily="2" charset="2"/>
              <a:buChar char="v"/>
            </a:pPr>
            <a:r>
              <a:rPr lang="en-US" sz="1800" dirty="0">
                <a:latin typeface="Candara" panose="020E0502030303020204" pitchFamily="34" charset="0"/>
              </a:rPr>
              <a:t>Working hours per week </a:t>
            </a:r>
          </a:p>
          <a:p>
            <a:pPr lvl="1">
              <a:buFont typeface="Wingdings" panose="05000000000000000000" pitchFamily="2" charset="2"/>
              <a:buChar char="v"/>
            </a:pPr>
            <a:r>
              <a:rPr lang="en-US" sz="1800" dirty="0">
                <a:latin typeface="Candara" panose="020E0502030303020204" pitchFamily="34" charset="0"/>
              </a:rPr>
              <a:t>Job satisfaction </a:t>
            </a:r>
          </a:p>
          <a:p>
            <a:pPr lvl="1">
              <a:buFont typeface="Wingdings" panose="05000000000000000000" pitchFamily="2" charset="2"/>
              <a:buChar char="v"/>
            </a:pPr>
            <a:r>
              <a:rPr lang="en-US" sz="1800" dirty="0">
                <a:latin typeface="Candara" panose="020E0502030303020204" pitchFamily="34" charset="0"/>
              </a:rPr>
              <a:t>Anxiety levels </a:t>
            </a:r>
          </a:p>
          <a:p>
            <a:pPr lvl="1">
              <a:buFont typeface="Wingdings" panose="05000000000000000000" pitchFamily="2" charset="2"/>
              <a:buChar char="v"/>
            </a:pPr>
            <a:r>
              <a:rPr lang="en-US" sz="1800" dirty="0">
                <a:latin typeface="Candara" panose="020E0502030303020204" pitchFamily="34" charset="0"/>
              </a:rPr>
              <a:t>Depression levels </a:t>
            </a:r>
          </a:p>
          <a:p>
            <a:pPr lvl="1">
              <a:buFont typeface="Wingdings" panose="05000000000000000000" pitchFamily="2" charset="2"/>
              <a:buChar char="v"/>
            </a:pPr>
            <a:r>
              <a:rPr lang="en-US" sz="1800" dirty="0">
                <a:latin typeface="Candara" panose="020E0502030303020204" pitchFamily="34" charset="0"/>
              </a:rPr>
              <a:t>Work-life balance rating </a:t>
            </a:r>
          </a:p>
          <a:p>
            <a:pPr lvl="1">
              <a:buFont typeface="Wingdings" panose="05000000000000000000" pitchFamily="2" charset="2"/>
              <a:buChar char="v"/>
            </a:pPr>
            <a:r>
              <a:rPr lang="en-US" sz="1800" dirty="0">
                <a:latin typeface="Candara" panose="020E0502030303020204" pitchFamily="34" charset="0"/>
              </a:rPr>
              <a:t>Productivity score </a:t>
            </a:r>
          </a:p>
          <a:p>
            <a:pPr lvl="1">
              <a:buFont typeface="Wingdings" panose="05000000000000000000" pitchFamily="2" charset="2"/>
              <a:buChar char="v"/>
            </a:pPr>
            <a:r>
              <a:rPr lang="en-US" sz="1800" dirty="0">
                <a:latin typeface="Candara" panose="020E0502030303020204" pitchFamily="34" charset="0"/>
              </a:rPr>
              <a:t>Remote communication frequency</a:t>
            </a:r>
            <a:endParaRPr lang="en-GB" sz="1800" dirty="0">
              <a:latin typeface="Candara" panose="020E0502030303020204" pitchFamily="34" charset="0"/>
            </a:endParaRPr>
          </a:p>
        </p:txBody>
      </p:sp>
    </p:spTree>
    <p:extLst>
      <p:ext uri="{BB962C8B-B14F-4D97-AF65-F5344CB8AC3E}">
        <p14:creationId xmlns:p14="http://schemas.microsoft.com/office/powerpoint/2010/main" val="2275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2EB55-0DC7-7111-3E1C-46A30E1D306B}"/>
              </a:ext>
            </a:extLst>
          </p:cNvPr>
          <p:cNvSpPr>
            <a:spLocks noGrp="1"/>
          </p:cNvSpPr>
          <p:nvPr>
            <p:ph type="title"/>
          </p:nvPr>
        </p:nvSpPr>
        <p:spPr>
          <a:xfrm>
            <a:off x="640080" y="558676"/>
            <a:ext cx="4368602" cy="1956841"/>
          </a:xfrm>
        </p:spPr>
        <p:txBody>
          <a:bodyPr anchor="b">
            <a:normAutofit/>
          </a:bodyPr>
          <a:lstStyle/>
          <a:p>
            <a:r>
              <a:rPr lang="en-GB" sz="5000" b="1" dirty="0">
                <a:latin typeface="Candara" panose="020E0502030303020204" pitchFamily="34" charset="0"/>
              </a:rPr>
              <a:t>Methodology</a:t>
            </a:r>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E3A78EF-8A60-D206-BF4A-3AD4A4604E12}"/>
              </a:ext>
            </a:extLst>
          </p:cNvPr>
          <p:cNvSpPr>
            <a:spLocks noGrp="1"/>
          </p:cNvSpPr>
          <p:nvPr>
            <p:ph idx="1"/>
          </p:nvPr>
        </p:nvSpPr>
        <p:spPr>
          <a:xfrm>
            <a:off x="227147" y="2748235"/>
            <a:ext cx="4486104" cy="3320668"/>
          </a:xfrm>
        </p:spPr>
        <p:txBody>
          <a:bodyPr>
            <a:normAutofit/>
          </a:bodyPr>
          <a:lstStyle/>
          <a:p>
            <a:pPr marL="0" indent="0" algn="ctr">
              <a:buNone/>
            </a:pPr>
            <a:r>
              <a:rPr lang="en-US" sz="2200" b="1" dirty="0"/>
              <a:t>Tools to Be Used </a:t>
            </a:r>
          </a:p>
          <a:p>
            <a:pPr lvl="1">
              <a:buFont typeface="Wingdings" panose="05000000000000000000" pitchFamily="2" charset="2"/>
              <a:buChar char="ü"/>
            </a:pPr>
            <a:r>
              <a:rPr lang="en-US" sz="2200" dirty="0"/>
              <a:t>Microsoft Excel – for dataset cleaning, basic statistics, and summaries.</a:t>
            </a:r>
            <a:br>
              <a:rPr lang="en-US" sz="2200" dirty="0"/>
            </a:br>
            <a:endParaRPr lang="en-US" sz="2200" dirty="0"/>
          </a:p>
          <a:p>
            <a:pPr lvl="1">
              <a:buFont typeface="Wingdings" panose="05000000000000000000" pitchFamily="2" charset="2"/>
              <a:buChar char="ü"/>
            </a:pPr>
            <a:r>
              <a:rPr lang="en-US" sz="2200" dirty="0"/>
              <a:t>Microsoft Power BI – for data visualization, dashboards, and presentation of insights.</a:t>
            </a:r>
            <a:endParaRPr lang="en-GB" sz="2200" dirty="0"/>
          </a:p>
          <a:p>
            <a:pPr marL="0" indent="0">
              <a:buNone/>
            </a:pPr>
            <a:endParaRPr lang="en-GB" sz="2200" dirty="0">
              <a:latin typeface="Candara" panose="020E0502030303020204" pitchFamily="34" charset="0"/>
            </a:endParaRPr>
          </a:p>
        </p:txBody>
      </p:sp>
      <p:pic>
        <p:nvPicPr>
          <p:cNvPr id="5" name="Picture 4" descr="Desk with productivity items">
            <a:extLst>
              <a:ext uri="{FF2B5EF4-FFF2-40B4-BE49-F238E27FC236}">
                <a16:creationId xmlns:a16="http://schemas.microsoft.com/office/drawing/2014/main" id="{B9024AB4-9F33-AB28-08D5-1FD4C882F783}"/>
              </a:ext>
            </a:extLst>
          </p:cNvPr>
          <p:cNvPicPr>
            <a:picLocks noChangeAspect="1"/>
          </p:cNvPicPr>
          <p:nvPr/>
        </p:nvPicPr>
        <p:blipFill>
          <a:blip r:embed="rId2"/>
          <a:srcRect l="23371" r="967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70282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411203-B787-B006-1953-31EAD16D2758}"/>
              </a:ext>
            </a:extLst>
          </p:cNvPr>
          <p:cNvSpPr>
            <a:spLocks noGrp="1"/>
          </p:cNvSpPr>
          <p:nvPr>
            <p:ph type="title"/>
          </p:nvPr>
        </p:nvSpPr>
        <p:spPr>
          <a:xfrm>
            <a:off x="84709" y="552091"/>
            <a:ext cx="4709399" cy="5431536"/>
          </a:xfrm>
        </p:spPr>
        <p:txBody>
          <a:bodyPr>
            <a:noAutofit/>
          </a:bodyPr>
          <a:lstStyle/>
          <a:p>
            <a:r>
              <a:rPr lang="en-US" sz="2400" dirty="0">
                <a:latin typeface="Candara" panose="020E0502030303020204" pitchFamily="34" charset="0"/>
              </a:rPr>
              <a:t>The project is expected to reveal how different factors such as work hours, gender, and job satisfaction affect mental well-being. Insights will help organizations and individuals recognize high-risk groups and develop strategies to reduce stress and improve employee happiness.</a:t>
            </a:r>
            <a:br>
              <a:rPr lang="en-GB" sz="2400" dirty="0">
                <a:latin typeface="Candara" panose="020E0502030303020204" pitchFamily="34" charset="0"/>
              </a:rPr>
            </a:br>
            <a:endParaRPr lang="en-GB" sz="2000" b="1" dirty="0">
              <a:latin typeface="Candara" panose="020E0502030303020204" pitchFamily="34" charset="0"/>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F2ADB1-18B7-D604-A1DB-B346842A03A4}"/>
              </a:ext>
            </a:extLst>
          </p:cNvPr>
          <p:cNvSpPr>
            <a:spLocks noGrp="1"/>
          </p:cNvSpPr>
          <p:nvPr>
            <p:ph idx="1"/>
          </p:nvPr>
        </p:nvSpPr>
        <p:spPr>
          <a:xfrm>
            <a:off x="5126418" y="552091"/>
            <a:ext cx="6224335" cy="5431536"/>
          </a:xfrm>
        </p:spPr>
        <p:txBody>
          <a:bodyPr anchor="ctr">
            <a:normAutofit/>
          </a:bodyPr>
          <a:lstStyle/>
          <a:p>
            <a:pPr marL="0" indent="0" algn="just">
              <a:buNone/>
            </a:pPr>
            <a:endParaRPr lang="en-GB" sz="2200" dirty="0">
              <a:latin typeface="Candara" panose="020E0502030303020204" pitchFamily="34" charset="0"/>
            </a:endParaRPr>
          </a:p>
        </p:txBody>
      </p:sp>
      <p:pic>
        <p:nvPicPr>
          <p:cNvPr id="6" name="Picture 5">
            <a:extLst>
              <a:ext uri="{FF2B5EF4-FFF2-40B4-BE49-F238E27FC236}">
                <a16:creationId xmlns:a16="http://schemas.microsoft.com/office/drawing/2014/main" id="{EDC0A45D-22E4-4F5C-9434-728F97875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6070" y="450574"/>
            <a:ext cx="6480313" cy="5671930"/>
          </a:xfrm>
          <a:prstGeom prst="rect">
            <a:avLst/>
          </a:prstGeom>
          <a:ln>
            <a:solidFill>
              <a:schemeClr val="bg1"/>
            </a:solidFill>
          </a:ln>
        </p:spPr>
      </p:pic>
    </p:spTree>
    <p:extLst>
      <p:ext uri="{BB962C8B-B14F-4D97-AF65-F5344CB8AC3E}">
        <p14:creationId xmlns:p14="http://schemas.microsoft.com/office/powerpoint/2010/main" val="3009896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B304D8-EA79-74FA-19DA-A7FA7AB7648E}"/>
              </a:ext>
            </a:extLst>
          </p:cNvPr>
          <p:cNvSpPr>
            <a:spLocks noGrp="1"/>
          </p:cNvSpPr>
          <p:nvPr>
            <p:ph type="title"/>
          </p:nvPr>
        </p:nvSpPr>
        <p:spPr>
          <a:xfrm>
            <a:off x="294132" y="1165860"/>
            <a:ext cx="4079085" cy="4526280"/>
          </a:xfrm>
        </p:spPr>
        <p:txBody>
          <a:bodyPr>
            <a:normAutofit/>
          </a:bodyPr>
          <a:lstStyle/>
          <a:p>
            <a:pPr algn="ctr"/>
            <a:r>
              <a:rPr lang="en-GB" sz="5000" b="1" dirty="0">
                <a:latin typeface="Candara" panose="020E0502030303020204" pitchFamily="34" charset="0"/>
              </a:rPr>
              <a:t>Timeline </a:t>
            </a:r>
            <a:br>
              <a:rPr lang="en-GB" sz="5000" b="1" dirty="0">
                <a:latin typeface="Candara" panose="020E0502030303020204" pitchFamily="34" charset="0"/>
              </a:rPr>
            </a:br>
            <a:r>
              <a:rPr lang="en-GB" sz="5000" b="1" dirty="0">
                <a:latin typeface="Candara" panose="020E0502030303020204" pitchFamily="34" charset="0"/>
              </a:rPr>
              <a:t>4 Weeks</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BA18E368-4959-BCD9-CDE2-2D564429ABDB}"/>
              </a:ext>
            </a:extLst>
          </p:cNvPr>
          <p:cNvGraphicFramePr>
            <a:graphicFrameLocks noGrp="1"/>
          </p:cNvGraphicFramePr>
          <p:nvPr>
            <p:ph idx="1"/>
            <p:extLst>
              <p:ext uri="{D42A27DB-BD31-4B8C-83A1-F6EECF244321}">
                <p14:modId xmlns:p14="http://schemas.microsoft.com/office/powerpoint/2010/main" val="273044668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4021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itle 3">
            <a:extLst>
              <a:ext uri="{FF2B5EF4-FFF2-40B4-BE49-F238E27FC236}">
                <a16:creationId xmlns:a16="http://schemas.microsoft.com/office/drawing/2014/main" id="{6E938538-5E5E-21D6-CDED-B0833CE22590}"/>
              </a:ext>
            </a:extLst>
          </p:cNvPr>
          <p:cNvSpPr>
            <a:spLocks noGrp="1"/>
          </p:cNvSpPr>
          <p:nvPr>
            <p:ph type="title"/>
          </p:nvPr>
        </p:nvSpPr>
        <p:spPr>
          <a:xfrm>
            <a:off x="841650" y="643124"/>
            <a:ext cx="5393361" cy="1325563"/>
          </a:xfrm>
        </p:spPr>
        <p:txBody>
          <a:bodyPr vert="horz" lIns="91440" tIns="45720" rIns="91440" bIns="45720" rtlCol="0" anchor="ctr">
            <a:normAutofit/>
          </a:bodyPr>
          <a:lstStyle/>
          <a:p>
            <a:pPr algn="ctr"/>
            <a:r>
              <a:rPr lang="en-US" sz="5000" b="1" dirty="0">
                <a:latin typeface="Candara" panose="020E0502030303020204" pitchFamily="34" charset="0"/>
              </a:rPr>
              <a:t>Conclusion</a:t>
            </a:r>
          </a:p>
        </p:txBody>
      </p:sp>
      <p:sp>
        <p:nvSpPr>
          <p:cNvPr id="6" name="Text Placeholder 5">
            <a:extLst>
              <a:ext uri="{FF2B5EF4-FFF2-40B4-BE49-F238E27FC236}">
                <a16:creationId xmlns:a16="http://schemas.microsoft.com/office/drawing/2014/main" id="{F58CE5BF-3068-0CD9-162F-9758FC5F3D6E}"/>
              </a:ext>
            </a:extLst>
          </p:cNvPr>
          <p:cNvSpPr>
            <a:spLocks noGrp="1"/>
          </p:cNvSpPr>
          <p:nvPr>
            <p:ph type="body" sz="half" idx="2"/>
          </p:nvPr>
        </p:nvSpPr>
        <p:spPr>
          <a:xfrm>
            <a:off x="569844" y="1825625"/>
            <a:ext cx="5936974" cy="3063689"/>
          </a:xfrm>
        </p:spPr>
        <p:txBody>
          <a:bodyPr vert="horz" lIns="91440" tIns="45720" rIns="91440" bIns="45720" rtlCol="0">
            <a:normAutofit/>
          </a:bodyPr>
          <a:lstStyle/>
          <a:p>
            <a:pPr algn="just"/>
            <a:r>
              <a:rPr lang="en-US" sz="2400" dirty="0">
                <a:latin typeface="Candara" panose="020E0502030303020204" pitchFamily="34" charset="0"/>
              </a:rPr>
              <a:t>This project aims to provide valuable insights into the connection between remote work and mental health. By analyzing existing datasets with Excel and Power BI, the Mentalytics Team hopes to recommend practical measures that enhance employee well-being and support a healthier, more productive work environment.</a:t>
            </a:r>
          </a:p>
          <a:p>
            <a:pPr indent="-228600">
              <a:buFont typeface="Arial" panose="020B0604020202020204" pitchFamily="34" charset="0"/>
              <a:buChar char="•"/>
            </a:pPr>
            <a:endParaRPr lang="en-US" dirty="0"/>
          </a:p>
        </p:txBody>
      </p:sp>
      <p:pic>
        <p:nvPicPr>
          <p:cNvPr id="8" name="Picture Placeholder 7" descr="A diagram of a person working on her computer&#10;&#10;Description automatically generated">
            <a:extLst>
              <a:ext uri="{FF2B5EF4-FFF2-40B4-BE49-F238E27FC236}">
                <a16:creationId xmlns:a16="http://schemas.microsoft.com/office/drawing/2014/main" id="{4AEC7A3B-BE31-7CDC-554C-9B1A95397C2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3" b="3"/>
          <a:stretch>
            <a:fillRect/>
          </a:stretch>
        </p:blipFill>
        <p:spPr>
          <a:xfrm>
            <a:off x="6650661" y="814637"/>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7363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1800</TotalTime>
  <Words>695</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Candara</vt:lpstr>
      <vt:lpstr>Wingdings</vt:lpstr>
      <vt:lpstr>Office Theme</vt:lpstr>
      <vt:lpstr>MENTALYTICS TEAM</vt:lpstr>
      <vt:lpstr>Project Title </vt:lpstr>
      <vt:lpstr>Mentalytics Members </vt:lpstr>
      <vt:lpstr>Introduction</vt:lpstr>
      <vt:lpstr>Problem Statement</vt:lpstr>
      <vt:lpstr>Objectives</vt:lpstr>
      <vt:lpstr>Research Question</vt:lpstr>
      <vt:lpstr>Primary Dataset</vt:lpstr>
      <vt:lpstr>Methodology</vt:lpstr>
      <vt:lpstr>The project is expected to reveal how different factors such as work hours, gender, and job satisfaction affect mental well-being. Insights will help organizations and individuals recognize high-risk groups and develop strategies to reduce stress and improve employee happiness. </vt:lpstr>
      <vt:lpstr>Timeline  4 Weeks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MENTALYTICS TEAM</dc:title>
  <dc:creator>Ukomadu, Nneoma Chizaram</dc:creator>
  <cp:lastModifiedBy>RECONCILIATION</cp:lastModifiedBy>
  <cp:revision>39</cp:revision>
  <dcterms:created xsi:type="dcterms:W3CDTF">2025-10-19T11:06:36Z</dcterms:created>
  <dcterms:modified xsi:type="dcterms:W3CDTF">2025-10-23T22:04:54Z</dcterms:modified>
</cp:coreProperties>
</file>